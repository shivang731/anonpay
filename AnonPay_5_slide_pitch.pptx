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/>
  <p:outlineViewPr/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Master">
    <p:bg>
      <p:bgPr>
        <a:solidFill>
          <a:srgbClr val="1212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Accent"/>
          <p:cNvSpPr/>
          <p:nvPr/>
        </p:nvSpPr>
        <p:spPr>
          <a:xfrm>
            <a:off x="640080" y="594360"/>
            <a:ext cx="164592" cy="4206240"/>
          </a:xfrm>
          <a:prstGeom prst="rect">
            <a:avLst/>
          </a:prstGeom>
          <a:solidFill>
            <a:srgbClr val="7EFFC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1005840" y="82296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3000" b="1" dirty="0" smtClean="0">
                <a:solidFill>
                  <a:srgbClr val="F3F3F3"/>
                </a:solidFill>
              </a:rPr>
              <a:t>AnonPay</a:t>
            </a:r>
            <a:endParaRPr lang="en-US" sz="3000" dirty="0"/>
          </a:p>
          <a:p>
            <a:pPr algn="l" marL="0" indent="0"/>
            <a:r>
              <a:rPr lang="en-US" sz="1800" dirty="0" smtClean="0">
                <a:solidFill>
                  <a:srgbClr val="7EFFCC"/>
                </a:solidFill>
              </a:rPr>
              <a:t>Private invoicing and checkout on Midnight</a:t>
            </a:r>
            <a:endParaRPr lang="en-US" sz="1800" dirty="0"/>
          </a:p>
        </p:txBody>
      </p:sp>
      <p:sp>
        <p:nvSpPr>
          <p:cNvPr id="4" name="What"/>
          <p:cNvSpPr/>
          <p:nvPr/>
        </p:nvSpPr>
        <p:spPr>
          <a:xfrm>
            <a:off x="1005840" y="1828800"/>
            <a:ext cx="9509760" cy="24688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200" b="1" dirty="0" smtClean="0">
                <a:solidFill>
                  <a:srgbClr val="F3F3F3"/>
                </a:solidFill>
              </a:rPr>
              <a:t>What it does</a:t>
            </a:r>
            <a:endParaRPr lang="en-US" sz="2200" dirty="0"/>
          </a:p>
          <a:p>
            <a:pPr algn="l" marL="0" indent="0"/>
            <a:r>
              <a:rPr lang="en-US" sz="1800" dirty="0" smtClean="0">
                <a:solidFill>
                  <a:srgbClr val="D9D9D9"/>
                </a:solidFill>
              </a:rPr>
              <a:t>AnonPay lets merchants create payment links, invoices, and checkout pages for crypto payments with a privacy-first workflow.</a:t>
            </a:r>
            <a:endParaRPr lang="en-US" sz="1800" dirty="0"/>
          </a:p>
          <a:p>
            <a:pPr algn="l" marL="0" indent="0"/>
            <a:r>
              <a:rPr lang="en-US" sz="1800" dirty="0" smtClean="0">
                <a:solidFill>
                  <a:srgbClr val="D9D9D9"/>
                </a:solidFill>
              </a:rPr>
              <a:t>Users scan a QR or open a link, connect a Midnight wallet, and complete the payment flow without turning the product into a public revenue dashboard.</a:t>
            </a:r>
            <a:endParaRPr lang="en-US" sz="1800" dirty="0"/>
          </a:p>
        </p:txBody>
      </p:sp>
      <p:sp>
        <p:nvSpPr>
          <p:cNvPr id="5" name="Bottom"/>
          <p:cNvSpPr/>
          <p:nvPr/>
        </p:nvSpPr>
        <p:spPr>
          <a:xfrm>
            <a:off x="1005840" y="52120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00" dirty="0" smtClean="0">
                <a:solidFill>
                  <a:srgbClr val="BDBDBD"/>
                </a:solidFill>
              </a:rPr>
              <a:t>Simple idea: make crypto payments usable for real merchants without exposing everything on a public ledger.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800" b="1" dirty="0" smtClean="0">
                <a:solidFill>
                  <a:srgbClr val="F3F3F3"/>
                </a:solidFill>
              </a:rPr>
              <a:t>Problem it solves</a:t>
            </a:r>
            <a:endParaRPr lang="en-US" sz="2800" dirty="0"/>
          </a:p>
        </p:txBody>
      </p:sp>
      <p:sp>
        <p:nvSpPr>
          <p:cNvPr id="3" name="Card1"/>
          <p:cNvSpPr/>
          <p:nvPr/>
        </p:nvSpPr>
        <p:spPr>
          <a:xfrm>
            <a:off x="822960" y="1737360"/>
            <a:ext cx="3108960" cy="24688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Card2"/>
          <p:cNvSpPr/>
          <p:nvPr/>
        </p:nvSpPr>
        <p:spPr>
          <a:xfrm>
            <a:off x="3794760" y="1737360"/>
            <a:ext cx="3108960" cy="24688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Card3"/>
          <p:cNvSpPr/>
          <p:nvPr/>
        </p:nvSpPr>
        <p:spPr>
          <a:xfrm>
            <a:off x="6766560" y="1737360"/>
            <a:ext cx="3108960" cy="246888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P1"/>
          <p:cNvSpPr/>
          <p:nvPr/>
        </p:nvSpPr>
        <p:spPr>
          <a:xfrm>
            <a:off x="1051560" y="201168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7EFFCC"/>
                </a:solidFill>
              </a:rPr>
              <a:t>Public ledgers expose business data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Wallet balance, payment history, and merchant activity are often visible by default.</a:t>
            </a:r>
            <a:endParaRPr lang="en-US" sz="1600" dirty="0"/>
          </a:p>
        </p:txBody>
      </p:sp>
      <p:sp>
        <p:nvSpPr>
          <p:cNvPr id="7" name="P2"/>
          <p:cNvSpPr/>
          <p:nvPr/>
        </p:nvSpPr>
        <p:spPr>
          <a:xfrm>
            <a:off x="4023360" y="201168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7EFFCC"/>
                </a:solidFill>
              </a:rPr>
              <a:t>Crypto tools are not merchant-friendly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Many tools are wallet-first, not invoice-first. Real businesses need links, checkout, receipts, and tracking.</a:t>
            </a:r>
            <a:endParaRPr lang="en-US" sz="1600" dirty="0"/>
          </a:p>
        </p:txBody>
      </p:sp>
      <p:sp>
        <p:nvSpPr>
          <p:cNvPr id="8" name="P3"/>
          <p:cNvSpPr/>
          <p:nvPr/>
        </p:nvSpPr>
        <p:spPr>
          <a:xfrm>
            <a:off x="6995160" y="2011680"/>
            <a:ext cx="265176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7EFFCC"/>
                </a:solidFill>
              </a:rPr>
              <a:t>Privacy and usability rarely come together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Merchants should not have to choose between privacy and a practical payment flow.</a:t>
            </a:r>
            <a:endParaRPr lang="en-US" sz="1600" dirty="0"/>
          </a:p>
        </p:txBody>
      </p:sp>
      <p:sp>
        <p:nvSpPr>
          <p:cNvPr id="9" name="Bottom"/>
          <p:cNvSpPr/>
          <p:nvPr/>
        </p:nvSpPr>
        <p:spPr>
          <a:xfrm>
            <a:off x="868680" y="502920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900" b="1" dirty="0" smtClean="0">
                <a:solidFill>
                  <a:srgbClr val="F3F3F3"/>
                </a:solidFill>
              </a:rPr>
              <a:t>AnonPay turns private payments into a product merchants can actually use.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800" b="1" dirty="0" smtClean="0">
                <a:solidFill>
                  <a:srgbClr val="F3F3F3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Merchant"/>
          <p:cNvSpPr/>
          <p:nvPr/>
        </p:nvSpPr>
        <p:spPr>
          <a:xfrm>
            <a:off x="731520" y="2011680"/>
            <a:ext cx="2011680" cy="1188720"/>
          </a:xfrm>
          <a:prstGeom prst="roundRect">
            <a:avLst/>
          </a:prstGeom>
          <a:solidFill>
            <a:srgbClr val="1B1B1B"/>
          </a:solidFill>
          <a:ln w="19050">
            <a:solidFill>
              <a:srgbClr val="7EFF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Frontend"/>
          <p:cNvSpPr/>
          <p:nvPr/>
        </p:nvSpPr>
        <p:spPr>
          <a:xfrm>
            <a:off x="3154680" y="2011680"/>
            <a:ext cx="2286000" cy="1188720"/>
          </a:xfrm>
          <a:prstGeom prst="roundRect">
            <a:avLst/>
          </a:prstGeom>
          <a:solidFill>
            <a:srgbClr val="1B1B1B"/>
          </a:solidFill>
          <a:ln w="19050">
            <a:solidFill>
              <a:srgbClr val="70B7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Backend"/>
          <p:cNvSpPr/>
          <p:nvPr/>
        </p:nvSpPr>
        <p:spPr>
          <a:xfrm>
            <a:off x="5897880" y="2011680"/>
            <a:ext cx="2286000" cy="1188720"/>
          </a:xfrm>
          <a:prstGeom prst="roundRect">
            <a:avLst/>
          </a:prstGeom>
          <a:solidFill>
            <a:srgbClr val="1B1B1B"/>
          </a:solidFill>
          <a:ln w="19050">
            <a:solidFill>
              <a:srgbClr val="F5C7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Midnight"/>
          <p:cNvSpPr/>
          <p:nvPr/>
        </p:nvSpPr>
        <p:spPr>
          <a:xfrm>
            <a:off x="8641080" y="2011680"/>
            <a:ext cx="2103120" cy="1188720"/>
          </a:xfrm>
          <a:prstGeom prst="roundRect">
            <a:avLst/>
          </a:prstGeom>
          <a:solidFill>
            <a:srgbClr val="1B1B1B"/>
          </a:solidFill>
          <a:ln w="19050">
            <a:solidFill>
              <a:srgbClr val="FF8FB1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7" name="Arrow1"/>
          <p:cNvCxnSpPr/>
          <p:nvPr/>
        </p:nvCxnSpPr>
        <p:spPr>
          <a:xfrm>
            <a:off x="2743200" y="2606040"/>
            <a:ext cx="384048" cy="0"/>
          </a:xfrm>
          <a:prstGeom prst="line">
            <a:avLst/>
          </a:prstGeom>
          <a:ln w="25400">
            <a:solidFill>
              <a:srgbClr val="CFCFCF"/>
            </a:solidFill>
            <a:tailEnd type="none"/>
            <a:headEnd type="triangle"/>
          </a:ln>
        </p:spPr>
      </p:cxnSp>
      <p:cxnSp>
        <p:nvCxnSpPr>
          <p:cNvPr id="8" name="Arrow2"/>
          <p:cNvCxnSpPr/>
          <p:nvPr/>
        </p:nvCxnSpPr>
        <p:spPr>
          <a:xfrm>
            <a:off x="5440680" y="2606040"/>
            <a:ext cx="429768" cy="0"/>
          </a:xfrm>
          <a:prstGeom prst="line">
            <a:avLst/>
          </a:prstGeom>
          <a:ln w="25400">
            <a:solidFill>
              <a:srgbClr val="CFCFCF"/>
            </a:solidFill>
            <a:tailEnd type="none"/>
            <a:headEnd type="triangle"/>
          </a:ln>
        </p:spPr>
      </p:cxnSp>
      <p:cxnSp>
        <p:nvCxnSpPr>
          <p:cNvPr id="9" name="Arrow3"/>
          <p:cNvCxnSpPr/>
          <p:nvPr/>
        </p:nvCxnSpPr>
        <p:spPr>
          <a:xfrm>
            <a:off x="8183879" y="2606040"/>
            <a:ext cx="429769" cy="0"/>
          </a:xfrm>
          <a:prstGeom prst="line">
            <a:avLst/>
          </a:prstGeom>
          <a:ln w="25400">
            <a:solidFill>
              <a:srgbClr val="CFCFCF"/>
            </a:solidFill>
            <a:tailEnd type="none"/>
            <a:headEnd type="triangle"/>
          </a:ln>
        </p:spPr>
      </p:cxnSp>
      <p:sp>
        <p:nvSpPr>
          <p:cNvPr id="10" name="MerchantText"/>
          <p:cNvSpPr/>
          <p:nvPr/>
        </p:nvSpPr>
        <p:spPr>
          <a:xfrm>
            <a:off x="91440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00" b="1" dirty="0" smtClean="0">
                <a:solidFill>
                  <a:srgbClr val="F3F3F3"/>
                </a:solidFill>
              </a:rPr>
              <a:t>Merchant / Payer</a:t>
            </a:r>
            <a:endParaRPr lang="en-US" sz="1700" dirty="0"/>
          </a:p>
        </p:txBody>
      </p:sp>
      <p:sp>
        <p:nvSpPr>
          <p:cNvPr id="11" name="FrontText"/>
          <p:cNvSpPr/>
          <p:nvPr/>
        </p:nvSpPr>
        <p:spPr>
          <a:xfrm>
            <a:off x="3383280" y="2286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00" b="1" dirty="0" smtClean="0">
                <a:solidFill>
                  <a:srgbClr val="F3F3F3"/>
                </a:solidFill>
              </a:rPr>
              <a:t>React frontend</a:t>
            </a:r>
            <a:endParaRPr lang="en-US" sz="1700" dirty="0"/>
          </a:p>
        </p:txBody>
      </p:sp>
      <p:sp>
        <p:nvSpPr>
          <p:cNvPr id="12" name="BackText"/>
          <p:cNvSpPr/>
          <p:nvPr/>
        </p:nvSpPr>
        <p:spPr>
          <a:xfrm>
            <a:off x="6126480" y="22860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00" b="1" dirty="0" smtClean="0">
                <a:solidFill>
                  <a:srgbClr val="F3F3F3"/>
                </a:solidFill>
              </a:rPr>
              <a:t>Node backend</a:t>
            </a:r>
            <a:endParaRPr lang="en-US" sz="1700" dirty="0"/>
          </a:p>
        </p:txBody>
      </p:sp>
      <p:sp>
        <p:nvSpPr>
          <p:cNvPr id="13" name="MidText"/>
          <p:cNvSpPr/>
          <p:nvPr/>
        </p:nvSpPr>
        <p:spPr>
          <a:xfrm>
            <a:off x="8869680" y="228600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00" b="1" dirty="0" smtClean="0">
                <a:solidFill>
                  <a:srgbClr val="F3F3F3"/>
                </a:solidFill>
              </a:rPr>
              <a:t>Midnight</a:t>
            </a:r>
            <a:endParaRPr lang="en-US" sz="1700" dirty="0"/>
          </a:p>
        </p:txBody>
      </p:sp>
      <p:sp>
        <p:nvSpPr>
          <p:cNvPr id="14" name="Explain"/>
          <p:cNvSpPr/>
          <p:nvPr/>
        </p:nvSpPr>
        <p:spPr>
          <a:xfrm>
            <a:off x="914400" y="3840480"/>
            <a:ext cx="9509760" cy="201168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200" b="1" dirty="0" smtClean="0">
                <a:solidFill>
                  <a:srgbClr val="F3F3F3"/>
                </a:solidFill>
              </a:rPr>
              <a:t>Simple flow</a:t>
            </a:r>
            <a:endParaRPr lang="en-US" sz="2200" dirty="0"/>
          </a:p>
          <a:p>
            <a:pPr algn="l" marL="0" indent="0"/>
            <a:r>
              <a:rPr lang="en-US" sz="1700" dirty="0" smtClean="0">
                <a:solidFill>
                  <a:srgbClr val="D9D9D9"/>
                </a:solidFill>
              </a:rPr>
              <a:t>1. Merchant creates an invoice or checkout session in the frontend.</a:t>
            </a:r>
            <a:endParaRPr lang="en-US" sz="1700" dirty="0"/>
          </a:p>
          <a:p>
            <a:pPr algn="l" marL="0" indent="0"/>
            <a:r>
              <a:rPr lang="en-US" sz="1700" dirty="0" smtClean="0">
                <a:solidFill>
                  <a:srgbClr val="D9D9D9"/>
                </a:solidFill>
              </a:rPr>
              <a:t>2. Backend stores invoice data in Supabase and coordinates session state.</a:t>
            </a:r>
            <a:endParaRPr lang="en-US" sz="1700" dirty="0"/>
          </a:p>
          <a:p>
            <a:pPr algn="l" marL="0" indent="0"/>
            <a:r>
              <a:rPr lang="en-US" sz="1700" dirty="0" smtClean="0">
                <a:solidFill>
                  <a:srgbClr val="D9D9D9"/>
                </a:solidFill>
              </a:rPr>
              <a:t>3. Payer settles through the Midnight payment flow.</a:t>
            </a:r>
            <a:endParaRPr lang="en-US" sz="1700" dirty="0"/>
          </a:p>
          <a:p>
            <a:pPr algn="l" marL="0" indent="0"/>
            <a:r>
              <a:rPr lang="en-US" sz="1700" dirty="0" smtClean="0">
                <a:solidFill>
                  <a:srgbClr val="D9D9D9"/>
                </a:solidFill>
              </a:rPr>
              <a:t>4. Backend reconciles status, receipts, and webhooks for the merchant dashboard.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800" b="1" dirty="0" smtClean="0">
                <a:solidFill>
                  <a:srgbClr val="F3F3F3"/>
                </a:solidFill>
              </a:rPr>
              <a:t>Revenue model</a:t>
            </a:r>
            <a:endParaRPr lang="en-US" sz="2800" dirty="0"/>
          </a:p>
        </p:txBody>
      </p:sp>
      <p:sp>
        <p:nvSpPr>
          <p:cNvPr id="3" name="R1"/>
          <p:cNvSpPr/>
          <p:nvPr/>
        </p:nvSpPr>
        <p:spPr>
          <a:xfrm>
            <a:off x="914400" y="1828800"/>
            <a:ext cx="2743200" cy="21945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7EFF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2"/>
          <p:cNvSpPr/>
          <p:nvPr/>
        </p:nvSpPr>
        <p:spPr>
          <a:xfrm>
            <a:off x="3931920" y="1828800"/>
            <a:ext cx="2743200" cy="21945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70B7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3"/>
          <p:cNvSpPr/>
          <p:nvPr/>
        </p:nvSpPr>
        <p:spPr>
          <a:xfrm>
            <a:off x="6949440" y="1828800"/>
            <a:ext cx="2743200" cy="219456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C76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v1"/>
          <p:cNvSpPr/>
          <p:nvPr/>
        </p:nvSpPr>
        <p:spPr>
          <a:xfrm>
            <a:off x="114300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7EFFCC"/>
                </a:solidFill>
              </a:rPr>
              <a:t>Merchant SaaS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Monthly plans for dashboard access, analytics, profiles, and reporting.</a:t>
            </a:r>
            <a:endParaRPr lang="en-US" sz="1600" dirty="0"/>
          </a:p>
        </p:txBody>
      </p:sp>
      <p:sp>
        <p:nvSpPr>
          <p:cNvPr id="7" name="Rev2"/>
          <p:cNvSpPr/>
          <p:nvPr/>
        </p:nvSpPr>
        <p:spPr>
          <a:xfrm>
            <a:off x="416052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70B7FF"/>
                </a:solidFill>
              </a:rPr>
              <a:t>Checkout fee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A small fee per successful payment or per hosted checkout session.</a:t>
            </a:r>
            <a:endParaRPr lang="en-US" sz="1600" dirty="0"/>
          </a:p>
        </p:txBody>
      </p:sp>
      <p:sp>
        <p:nvSpPr>
          <p:cNvPr id="8" name="Rev3"/>
          <p:cNvSpPr/>
          <p:nvPr/>
        </p:nvSpPr>
        <p:spPr>
          <a:xfrm>
            <a:off x="7178040" y="2103120"/>
            <a:ext cx="2286000" cy="1645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b="1" dirty="0" smtClean="0">
                <a:solidFill>
                  <a:srgbClr val="F5C76D"/>
                </a:solidFill>
              </a:rPr>
              <a:t>SDK / enterprise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Developer API plans, custom onboarding, and enterprise integrations.</a:t>
            </a:r>
            <a:endParaRPr lang="en-US" sz="1600" dirty="0"/>
          </a:p>
        </p:txBody>
      </p:sp>
      <p:sp>
        <p:nvSpPr>
          <p:cNvPr id="9" name="Bottom"/>
          <p:cNvSpPr/>
          <p:nvPr/>
        </p:nvSpPr>
        <p:spPr>
          <a:xfrm>
            <a:off x="914400" y="48920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800" dirty="0" smtClean="0">
                <a:solidFill>
                  <a:srgbClr val="D9D9D9"/>
                </a:solidFill>
              </a:rPr>
              <a:t>Start simple: SaaS + payment fee. Expand later into API and enterprise deals.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2121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"/>
          <p:cNvSpPr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800" b="1" dirty="0" smtClean="0">
                <a:solidFill>
                  <a:srgbClr val="F3F3F3"/>
                </a:solidFill>
              </a:rPr>
              <a:t>Demo video</a:t>
            </a:r>
            <a:endParaRPr lang="en-US" sz="2800" dirty="0"/>
          </a:p>
        </p:txBody>
      </p:sp>
      <p:sp>
        <p:nvSpPr>
          <p:cNvPr id="3" name="DemoCard"/>
          <p:cNvSpPr/>
          <p:nvPr/>
        </p:nvSpPr>
        <p:spPr>
          <a:xfrm>
            <a:off x="868680" y="1737360"/>
            <a:ext cx="9418320" cy="301752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3333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DemoText"/>
          <p:cNvSpPr/>
          <p:nvPr/>
        </p:nvSpPr>
        <p:spPr>
          <a:xfrm>
            <a:off x="1143000" y="2103120"/>
            <a:ext cx="8869680" cy="2286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2100" b="1" dirty="0" smtClean="0">
                <a:solidFill>
                  <a:srgbClr val="7EFFCC"/>
                </a:solidFill>
              </a:rPr>
              <a:t>Google Drive link</a:t>
            </a:r>
            <a:endParaRPr lang="en-US" sz="2100" dirty="0"/>
          </a:p>
          <a:p>
            <a:pPr algn="l" marL="0" indent="0"/>
            <a:r>
              <a:rPr lang="en-US" sz="1800" dirty="0" smtClean="0">
                <a:solidFill>
                  <a:srgbClr val="D9D9D9"/>
                </a:solidFill>
              </a:rPr>
              <a:t>Paste your demo video link here before sharing the deck.</a:t>
            </a:r>
            <a:endParaRPr lang="en-US" sz="1800" dirty="0"/>
          </a:p>
          <a:p>
            <a:pPr algn="l" marL="0" indent="0"/>
            <a:r>
              <a:rPr lang="en-US" sz="1800" dirty="0" smtClean="0">
                <a:solidFill>
                  <a:srgbClr val="BDBDBD"/>
                </a:solidFill>
              </a:rPr>
              <a:t>Example: https://drive.google.com/...</a:t>
            </a:r>
            <a:endParaRPr lang="en-US" sz="1800" dirty="0"/>
          </a:p>
          <a:p>
            <a:pPr algn="l" marL="0" indent="0"/>
            <a:r>
              <a:rPr lang="en-US" sz="1600" dirty="0" smtClean="0">
                <a:solidFill>
                  <a:srgbClr val="D9D9D9"/>
                </a:solidFill>
              </a:rPr>
              <a:t>Recommended demo flow: create invoice -&gt; share QR/link -&gt; payment page -&gt; dashboard / burner / profile.</a:t>
            </a:r>
            <a:endParaRPr lang="en-US" sz="1600" dirty="0"/>
          </a:p>
        </p:txBody>
      </p:sp>
      <p:sp>
        <p:nvSpPr>
          <p:cNvPr id="5" name="Close"/>
          <p:cNvSpPr/>
          <p:nvPr/>
        </p:nvSpPr>
        <p:spPr>
          <a:xfrm>
            <a:off x="914400" y="51663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 marL="0" indent="0"/>
            <a:r>
              <a:rPr lang="en-US" sz="1750" b="1" dirty="0" smtClean="0">
                <a:solidFill>
                  <a:srgbClr val="F3F3F3"/>
                </a:solidFill>
              </a:rPr>
              <a:t>Keep the demo short and clean. Show only the core flow that works reliably.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onPay Theme">
  <a:themeElements>
    <a:clrScheme name="AnonPay Colors">
      <a:dk1>
        <a:srgbClr val="121212"/>
      </a:dk1>
      <a:lt1>
        <a:srgbClr val="F5F5F5"/>
      </a:lt1>
      <a:dk2>
        <a:srgbClr val="242424"/>
      </a:dk2>
      <a:lt2>
        <a:srgbClr val="D9D9D9"/>
      </a:lt2>
      <a:accent1>
        <a:srgbClr val="7EFFCC"/>
      </a:accent1>
      <a:accent2>
        <a:srgbClr val="70B7FF"/>
      </a:accent2>
      <a:accent3>
        <a:srgbClr val="F5C76D"/>
      </a:accent3>
      <a:accent4>
        <a:srgbClr val="FF8FB1"/>
      </a:accent4>
      <a:accent5>
        <a:srgbClr val="A0A0A0"/>
      </a:accent5>
      <a:accent6>
        <a:srgbClr val="5A5A5A"/>
      </a:accent6>
      <a:hlink>
        <a:srgbClr val="70B7FF"/>
      </a:hlink>
      <a:folHlink>
        <a:srgbClr val="FF8FB1"/>
      </a:folHlink>
    </a:clrScheme>
    <a:fontScheme name="AnonPay Fonts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AnonPay Forma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bg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AnonPay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AnonPay 5 slide pitch</dc:title>
  <dc:creator>OpenAI Codex</dc:creator>
  <cp:lastModifiedBy>OpenAI Codex</cp:lastModifiedBy>
  <dcterms:created xsi:type="dcterms:W3CDTF">2026-04-09T12:06:07Z</dcterms:created>
  <dcterms:modified xsi:type="dcterms:W3CDTF">2026-04-09T12:06:07Z</dcterms:modified>
</cp:coreProperties>
</file>